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Joiner Call Coach — an AI role-play trainer for support new joiners to rehearse US customer calls in text or voice.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Product: mobile (Expo) AI role-play for India-based PACS support teams practicing US customer calls in text or voice.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Stack: pnpm/Node24/TS5.9 monorepo, Express 5 API, Postgres+Drizzle, Zod validation, Orval codegen, esbuild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Architecture: cross-platform voice; base64 JSON audio with 25mb limit; STT gpt-4o-mini-transcribe; TTS gpt-audio-mini via chat completions; expo-audio/file-system pinned to SDK 54.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554480"/>
            <a:ext cx="5120640" cy="512064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4023360" cy="4023360"/>
          </a:xfrm>
          <a:prstGeom prst="ellipse">
            <a:avLst/>
          </a:prstGeom>
          <a:solidFill>
            <a:srgbClr val="02C39A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086600" y="3246120"/>
            <a:ext cx="182880" cy="822960"/>
          </a:xfrm>
          <a:prstGeom prst="roundRect">
            <a:avLst>
              <a:gd name="adj" fmla="val 45000"/>
            </a:avLst>
          </a:prstGeom>
          <a:solidFill>
            <a:srgbClr val="00A896">
              <a:alpha val="8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402068" y="2971800"/>
            <a:ext cx="182880" cy="1371600"/>
          </a:xfrm>
          <a:prstGeom prst="roundRect">
            <a:avLst>
              <a:gd name="adj" fmla="val 45000"/>
            </a:avLst>
          </a:prstGeom>
          <a:solidFill>
            <a:srgbClr val="02C39A">
              <a:alpha val="8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717536" y="2606040"/>
            <a:ext cx="182880" cy="2103120"/>
          </a:xfrm>
          <a:prstGeom prst="roundRect">
            <a:avLst>
              <a:gd name="adj" fmla="val 45000"/>
            </a:avLst>
          </a:prstGeom>
          <a:solidFill>
            <a:srgbClr val="1C7293">
              <a:alpha val="7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33004" y="3108960"/>
            <a:ext cx="182880" cy="1097280"/>
          </a:xfrm>
          <a:prstGeom prst="roundRect">
            <a:avLst>
              <a:gd name="adj" fmla="val 45000"/>
            </a:avLst>
          </a:prstGeom>
          <a:solidFill>
            <a:srgbClr val="02C39A">
              <a:alpha val="8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348472" y="2331720"/>
            <a:ext cx="182880" cy="2651760"/>
          </a:xfrm>
          <a:prstGeom prst="roundRect">
            <a:avLst>
              <a:gd name="adj" fmla="val 45000"/>
            </a:avLst>
          </a:prstGeom>
          <a:solidFill>
            <a:srgbClr val="1C7293">
              <a:alpha val="8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663940" y="2011680"/>
            <a:ext cx="182880" cy="3291840"/>
          </a:xfrm>
          <a:prstGeom prst="roundRect">
            <a:avLst>
              <a:gd name="adj" fmla="val 45000"/>
            </a:avLst>
          </a:prstGeom>
          <a:solidFill>
            <a:srgbClr val="02C39A">
              <a:alpha val="7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979408" y="2697480"/>
            <a:ext cx="182880" cy="1920240"/>
          </a:xfrm>
          <a:prstGeom prst="roundRect">
            <a:avLst>
              <a:gd name="adj" fmla="val 45000"/>
            </a:avLst>
          </a:prstGeom>
          <a:solidFill>
            <a:srgbClr val="00A896">
              <a:alpha val="8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294876" y="2194560"/>
            <a:ext cx="182880" cy="2926080"/>
          </a:xfrm>
          <a:prstGeom prst="roundRect">
            <a:avLst>
              <a:gd name="adj" fmla="val 45000"/>
            </a:avLst>
          </a:prstGeom>
          <a:solidFill>
            <a:srgbClr val="02C39A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610344" y="3017520"/>
            <a:ext cx="182880" cy="1280160"/>
          </a:xfrm>
          <a:prstGeom prst="roundRect">
            <a:avLst>
              <a:gd name="adj" fmla="val 45000"/>
            </a:avLst>
          </a:prstGeom>
          <a:solidFill>
            <a:srgbClr val="1C7293">
              <a:alpha val="7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925812" y="2468880"/>
            <a:ext cx="182880" cy="2377440"/>
          </a:xfrm>
          <a:prstGeom prst="roundRect">
            <a:avLst>
              <a:gd name="adj" fmla="val 45000"/>
            </a:avLst>
          </a:prstGeom>
          <a:solidFill>
            <a:srgbClr val="02C39A">
              <a:alpha val="8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241280" y="1874520"/>
            <a:ext cx="182880" cy="3566160"/>
          </a:xfrm>
          <a:prstGeom prst="roundRect">
            <a:avLst>
              <a:gd name="adj" fmla="val 45000"/>
            </a:avLst>
          </a:prstGeom>
          <a:solidFill>
            <a:srgbClr val="1C7293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556748" y="2743200"/>
            <a:ext cx="182880" cy="1828800"/>
          </a:xfrm>
          <a:prstGeom prst="roundRect">
            <a:avLst>
              <a:gd name="adj" fmla="val 45000"/>
            </a:avLst>
          </a:prstGeom>
          <a:solidFill>
            <a:srgbClr val="02C39A">
              <a:alpha val="7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872216" y="3154680"/>
            <a:ext cx="182880" cy="1005840"/>
          </a:xfrm>
          <a:prstGeom prst="roundRect">
            <a:avLst>
              <a:gd name="adj" fmla="val 45000"/>
            </a:avLst>
          </a:prstGeom>
          <a:solidFill>
            <a:srgbClr val="00A896">
              <a:alpha val="8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187684" y="2834640"/>
            <a:ext cx="182880" cy="1645920"/>
          </a:xfrm>
          <a:prstGeom prst="roundRect">
            <a:avLst>
              <a:gd name="adj" fmla="val 45000"/>
            </a:avLst>
          </a:prstGeom>
          <a:solidFill>
            <a:srgbClr val="02C39A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503152" y="3291840"/>
            <a:ext cx="182880" cy="731520"/>
          </a:xfrm>
          <a:prstGeom prst="roundRect">
            <a:avLst>
              <a:gd name="adj" fmla="val 45000"/>
            </a:avLst>
          </a:prstGeom>
          <a:solidFill>
            <a:srgbClr val="1C7293">
              <a:alpha val="7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658368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25400" dir="5400000">
              <a:srgbClr val="0A162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795528"/>
            <a:ext cx="182880" cy="182880"/>
          </a:xfrm>
          <a:prstGeom prst="ellipse">
            <a:avLst/>
          </a:prstGeom>
          <a:solidFill>
            <a:srgbClr val="0C1E2B"/>
          </a:solidFill>
          <a:ln/>
        </p:spPr>
      </p:sp>
      <p:sp>
        <p:nvSpPr>
          <p:cNvPr id="21" name="Text 19"/>
          <p:cNvSpPr/>
          <p:nvPr/>
        </p:nvSpPr>
        <p:spPr>
          <a:xfrm>
            <a:off x="1298448" y="6583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CALL ROLE-PLAY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8368" y="187452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800" b="1" dirty="0">
                <a:solidFill>
                  <a:srgbClr val="EAF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Joiner</a:t>
            </a:r>
            <a:endParaRPr lang="en-US" sz="58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800" b="1" dirty="0">
                <a:solidFill>
                  <a:srgbClr val="EAF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Coach</a:t>
            </a:r>
            <a:endParaRPr lang="en-US" sz="5800" dirty="0"/>
          </a:p>
        </p:txBody>
      </p:sp>
      <p:sp>
        <p:nvSpPr>
          <p:cNvPr id="23" name="Text 21"/>
          <p:cNvSpPr/>
          <p:nvPr/>
        </p:nvSpPr>
        <p:spPr>
          <a:xfrm>
            <a:off x="685800" y="43434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93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real US customer calls — in text or voice — before you ever pick up the phone.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85800" y="5806440"/>
            <a:ext cx="7315200" cy="566928"/>
          </a:xfrm>
          <a:prstGeom prst="roundRect">
            <a:avLst>
              <a:gd name="adj" fmla="val 50000"/>
            </a:avLst>
          </a:prstGeom>
          <a:solidFill>
            <a:srgbClr val="13293B"/>
          </a:solidFill>
          <a:ln w="12700">
            <a:solidFill>
              <a:srgbClr val="2241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80644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· Expo</a:t>
            </a:r>
            <a:pPr indent="0" marL="0">
              <a:buNone/>
            </a:pPr>
            <a:r>
              <a:rPr lang="en-US" sz="1250" dirty="0">
                <a:solidFill>
                  <a:srgbClr val="93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India-based PACS support teams      </a:t>
            </a:r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voice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66928" y="11704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role-play trainer in your pocket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1314A"/>
                </a:solidFill>
              </a:rPr>
              <a:t>Trainees pick a scenario; the AI plays the US customer; they reply.</a:t>
            </a: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65A82"/>
                </a:solidFill>
              </a:rPr>
              <a:t>Voice mode </a:t>
            </a:r>
            <a:pPr indent="0" marL="0">
              <a:lnSpc>
                <a:spcPts val="22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1314A"/>
                </a:solidFill>
              </a:rPr>
              <a:t>records the reply on the device mic, transcribes it, runs it through the same chat flow, and reads the customer’s response back aloud.</a:t>
            </a: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65A82"/>
                </a:solidFill>
              </a:rPr>
              <a:t>Text mode </a:t>
            </a:r>
            <a:pPr indent="0" marL="0">
              <a:lnSpc>
                <a:spcPts val="22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1314A"/>
                </a:solidFill>
              </a:rPr>
              <a:t>uses the very same flow — just typed instead of spoken.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23560" y="1874520"/>
            <a:ext cx="3063240" cy="1920240"/>
          </a:xfrm>
          <a:prstGeom prst="roundRect">
            <a:avLst>
              <a:gd name="adj" fmla="val 5714"/>
            </a:avLst>
          </a:prstGeom>
          <a:solidFill>
            <a:srgbClr val="F3F8FA"/>
          </a:solidFill>
          <a:ln w="12700">
            <a:solidFill>
              <a:srgbClr val="E1EAEF"/>
            </a:solidFill>
            <a:prstDash val="solid"/>
          </a:ln>
          <a:effectLst>
            <a:outerShdw sx="100000" sy="100000" kx="0" ky="0" algn="bl" rotWithShape="0" blurRad="114300" dist="38100" dir="5400000">
              <a:srgbClr val="8FB0C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79592" y="2148840"/>
            <a:ext cx="566928" cy="56692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25400" dir="5400000">
              <a:srgbClr val="0A162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79592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0" y="218541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mode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79592" y="28346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on the mic, auto-transcribe, hear the reply spoken back.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942832" y="1874520"/>
            <a:ext cx="3063240" cy="1920240"/>
          </a:xfrm>
          <a:prstGeom prst="roundRect">
            <a:avLst>
              <a:gd name="adj" fmla="val 5714"/>
            </a:avLst>
          </a:prstGeom>
          <a:solidFill>
            <a:srgbClr val="F3F8FA"/>
          </a:solidFill>
          <a:ln w="12700">
            <a:solidFill>
              <a:srgbClr val="E1EAEF"/>
            </a:solidFill>
            <a:prstDash val="solid"/>
          </a:ln>
          <a:effectLst>
            <a:outerShdw sx="100000" sy="100000" kx="0" ky="0" algn="bl" rotWithShape="0" blurRad="114300" dist="38100" dir="5400000">
              <a:srgbClr val="8FB0C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98864" y="2148840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25400" dir="5400000">
              <a:srgbClr val="0A162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98864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02952" y="218541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mode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98864" y="28346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responses through the identical chat pipeline.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23560" y="4050792"/>
            <a:ext cx="3063240" cy="1920240"/>
          </a:xfrm>
          <a:prstGeom prst="roundRect">
            <a:avLst>
              <a:gd name="adj" fmla="val 5714"/>
            </a:avLst>
          </a:prstGeom>
          <a:solidFill>
            <a:srgbClr val="F3F8FA"/>
          </a:solidFill>
          <a:ln w="12700">
            <a:solidFill>
              <a:srgbClr val="E1EAEF"/>
            </a:solidFill>
            <a:prstDash val="solid"/>
          </a:ln>
          <a:effectLst>
            <a:outerShdw sx="100000" sy="100000" kx="0" ky="0" algn="bl" rotWithShape="0" blurRad="114300" dist="38100" dir="5400000">
              <a:srgbClr val="8FB0C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79592" y="4325112"/>
            <a:ext cx="566928" cy="566928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25400" dir="5400000">
              <a:srgbClr val="0A162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79592" y="4325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436168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79592" y="501091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 runs on web, iOS and Android.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942832" y="4050792"/>
            <a:ext cx="3063240" cy="1920240"/>
          </a:xfrm>
          <a:prstGeom prst="roundRect">
            <a:avLst>
              <a:gd name="adj" fmla="val 5714"/>
            </a:avLst>
          </a:prstGeom>
          <a:solidFill>
            <a:srgbClr val="F3F8FA"/>
          </a:solidFill>
          <a:ln w="12700">
            <a:solidFill>
              <a:srgbClr val="E1EAEF"/>
            </a:solidFill>
            <a:prstDash val="solid"/>
          </a:ln>
          <a:effectLst>
            <a:outerShdw sx="100000" sy="100000" kx="0" ky="0" algn="bl" rotWithShape="0" blurRad="114300" dist="38100" dir="5400000">
              <a:srgbClr val="8FB0C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98864" y="4325112"/>
            <a:ext cx="566928" cy="566928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88900" dist="25400" dir="5400000">
              <a:srgbClr val="0A162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98864" y="4325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902952" y="436168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role-play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98864" y="501091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stays in character as the US customer.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2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66928" y="117043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end-to-end, generated from one contract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3F8FA"/>
          </a:solidFill>
          <a:ln w="12700">
            <a:solidFill>
              <a:srgbClr val="E1EAEF"/>
            </a:solidFill>
            <a:prstDash val="solid"/>
          </a:ln>
          <a:effectLst>
            <a:outerShdw sx="100000" sy="100000" kx="0" ky="0" algn="bl" rotWithShape="0" blurRad="114300" dist="38100" dir="5400000">
              <a:srgbClr val="8FB0C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2267712"/>
            <a:ext cx="585216" cy="585216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88900" dist="25400" dir="5400000">
              <a:srgbClr val="0A162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22677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81328" y="2286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86384" y="294436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workspaces · Node.js 24 · TypeScript 5.9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98264" y="201168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3F8FA"/>
          </a:solidFill>
          <a:ln w="12700">
            <a:solidFill>
              <a:srgbClr val="E1EAEF"/>
            </a:solidFill>
            <a:prstDash val="solid"/>
          </a:ln>
          <a:effectLst>
            <a:outerShdw sx="100000" sy="100000" kx="0" ky="0" algn="bl" rotWithShape="0" blurRad="114300" dist="38100" dir="5400000">
              <a:srgbClr val="8FB0C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36008" y="2267712"/>
            <a:ext cx="585216" cy="585216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25400" dir="5400000">
              <a:srgbClr val="0A162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36008" y="22677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30952" y="2286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636008" y="294436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47888" y="201168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3F8FA"/>
          </a:solidFill>
          <a:ln w="12700">
            <a:solidFill>
              <a:srgbClr val="E1EAEF"/>
            </a:solidFill>
            <a:prstDash val="solid"/>
          </a:ln>
          <a:effectLst>
            <a:outerShdw sx="100000" sy="100000" kx="0" ky="0" algn="bl" rotWithShape="0" blurRad="114300" dist="38100" dir="5400000">
              <a:srgbClr val="8FB0C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85632" y="2267712"/>
            <a:ext cx="585216" cy="585216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25400" dir="5400000">
              <a:srgbClr val="0A162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85632" y="22677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80576" y="2286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485632" y="294436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Drizzle ORM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3F8FA"/>
          </a:solidFill>
          <a:ln w="12700">
            <a:solidFill>
              <a:srgbClr val="E1EAEF"/>
            </a:solidFill>
            <a:prstDash val="solid"/>
          </a:ln>
          <a:effectLst>
            <a:outerShdw sx="100000" sy="100000" kx="0" ky="0" algn="bl" rotWithShape="0" blurRad="114300" dist="38100" dir="5400000">
              <a:srgbClr val="8FB0C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6384" y="4233672"/>
            <a:ext cx="585216" cy="58521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25400" dir="5400000">
              <a:srgbClr val="0A162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86384" y="42336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81328" y="4251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86384" y="491032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(zod/v4) · drizzle-zod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98264" y="397764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3F8FA"/>
          </a:solidFill>
          <a:ln w="12700">
            <a:solidFill>
              <a:srgbClr val="E1EAEF"/>
            </a:solidFill>
            <a:prstDash val="solid"/>
          </a:ln>
          <a:effectLst>
            <a:outerShdw sx="100000" sy="100000" kx="0" ky="0" algn="bl" rotWithShape="0" blurRad="114300" dist="38100" dir="5400000">
              <a:srgbClr val="8FB0C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36008" y="4233672"/>
            <a:ext cx="585216" cy="585216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25400" dir="5400000">
              <a:srgbClr val="0A162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36008" y="42336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30952" y="4251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codegen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4636008" y="491032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Orval — hooks &amp; schemas from OpenAPI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247888" y="397764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3F8FA"/>
          </a:solidFill>
          <a:ln w="12700">
            <a:solidFill>
              <a:srgbClr val="E1EAEF"/>
            </a:solidFill>
            <a:prstDash val="solid"/>
          </a:ln>
          <a:effectLst>
            <a:outerShdw sx="100000" sy="100000" kx="0" ky="0" algn="bl" rotWithShape="0" blurRad="114300" dist="38100" dir="5400000">
              <a:srgbClr val="8FB0C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85632" y="4233672"/>
            <a:ext cx="585216" cy="585216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88900" dist="25400" dir="5400000">
              <a:srgbClr val="0A1620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485632" y="42336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80576" y="4251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8485632" y="491032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esbuild — CJS bundle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754880" cy="475488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architecture decisions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66928" y="115214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Non-obvious choices a reader couldn’t infer from the code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86400" cy="1572768"/>
          </a:xfrm>
          <a:prstGeom prst="roundRect">
            <a:avLst>
              <a:gd name="adj" fmla="val 6977"/>
            </a:avLst>
          </a:prstGeom>
          <a:solidFill>
            <a:srgbClr val="13293B"/>
          </a:solidFill>
          <a:ln w="12700">
            <a:solidFill>
              <a:srgbClr val="23445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620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48840"/>
            <a:ext cx="603504" cy="603504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25400" dir="5400000">
              <a:srgbClr val="0A162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2148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C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554480" y="213055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voice codebase, three targets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273405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3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uses MediaRecorder + HTMLAudioElement; native uses expo-audio — branched in useVoiceRecorder / useAudioPlayer.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36792" y="1874520"/>
            <a:ext cx="5486400" cy="1572768"/>
          </a:xfrm>
          <a:prstGeom prst="roundRect">
            <a:avLst>
              <a:gd name="adj" fmla="val 6977"/>
            </a:avLst>
          </a:prstGeom>
          <a:solidFill>
            <a:srgbClr val="13293B"/>
          </a:solidFill>
          <a:ln w="12700">
            <a:solidFill>
              <a:srgbClr val="23445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620">
                <a:alpha val="3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92824" y="2148840"/>
            <a:ext cx="603504" cy="603504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88900" dist="25400" dir="5400000">
              <a:srgbClr val="0A162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92824" y="2148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C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B64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342632" y="213055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as base64 JSON, end-to-end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611112" y="273405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3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multipart. Express body limit raised to 25 MB to carry ~30-second clips.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21608"/>
            <a:ext cx="5486400" cy="1572768"/>
          </a:xfrm>
          <a:prstGeom prst="roundRect">
            <a:avLst>
              <a:gd name="adj" fmla="val 6977"/>
            </a:avLst>
          </a:prstGeom>
          <a:solidFill>
            <a:srgbClr val="13293B"/>
          </a:solidFill>
          <a:ln w="12700">
            <a:solidFill>
              <a:srgbClr val="23445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620">
                <a:alpha val="3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3995928"/>
            <a:ext cx="603504" cy="60350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25400" dir="5400000">
              <a:srgbClr val="0A162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4672" y="39959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C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554480" y="397764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· gpt-4o-mini-transcribe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22960" y="458114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3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the Replit OpenAI proxy — whisper-1 isn’t supported there.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36792" y="3721608"/>
            <a:ext cx="5486400" cy="1572768"/>
          </a:xfrm>
          <a:prstGeom prst="roundRect">
            <a:avLst>
              <a:gd name="adj" fmla="val 6977"/>
            </a:avLst>
          </a:prstGeom>
          <a:solidFill>
            <a:srgbClr val="13293B"/>
          </a:solidFill>
          <a:ln w="12700">
            <a:solidFill>
              <a:srgbClr val="234459"/>
            </a:solidFill>
            <a:prstDash val="solid"/>
          </a:ln>
          <a:effectLst>
            <a:outerShdw sx="100000" sy="100000" kx="0" ky="0" algn="bl" rotWithShape="0" blurRad="127000" dist="38100" dir="5400000">
              <a:srgbClr val="0A1620">
                <a:alpha val="3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92824" y="3995928"/>
            <a:ext cx="603504" cy="603504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88900" dist="25400" dir="5400000">
              <a:srgbClr val="0A162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92824" y="39959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C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342632" y="397764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· gpt-audio-mini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611112" y="458114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3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chat.completions with modalities [text, audio]; the proxy has no /audio/speech route.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to Expo SDK 54:  </a:t>
            </a:r>
            <a:pPr indent="0" marL="0">
              <a:buNone/>
            </a:pPr>
            <a:r>
              <a:rPr lang="en-US" sz="1200" dirty="0">
                <a:solidFill>
                  <a:srgbClr val="93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expo-audio ~1.1.1 · expo-file-system ~19.0.22 — never let pnpm jump to the 55.x line.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2026-07-18T07:33:20Z</dcterms:created>
  <dcterms:modified xsi:type="dcterms:W3CDTF">2026-07-18T07:33:20Z</dcterms:modified>
</cp:coreProperties>
</file>